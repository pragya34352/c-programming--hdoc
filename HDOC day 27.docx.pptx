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67839" y="933450"/>
            <a:ext cx="9906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4" sz="1200">
                <a:solidFill>
                  <a:srgbClr val="000000"/>
                </a:solidFill>
                <a:latin typeface="Roboto"/>
              </a:rPr>
              <a:t>HDOC day 27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34110"/>
            <a:ext cx="31750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" sz="1100">
                <a:solidFill>
                  <a:srgbClr val="000000"/>
                </a:solidFill>
                <a:latin typeface="Roboto"/>
              </a:rPr>
              <a:t>Aim: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18260"/>
            <a:ext cx="367030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sz="1100">
                <a:solidFill>
                  <a:srgbClr val="000000"/>
                </a:solidFill>
                <a:latin typeface="Roboto"/>
              </a:rPr>
              <a:t>To write a C program to print a full pyramid using asterisks.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04950"/>
            <a:ext cx="72136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9" sz="1200">
                <a:solidFill>
                  <a:srgbClr val="000000"/>
                </a:solidFill>
                <a:latin typeface="Roboto"/>
              </a:rPr>
              <a:t>Algorithm</a:t>
            </a:r>
            <a:r>
              <a:rPr spc="35" sz="1100">
                <a:solidFill>
                  <a:srgbClr val="000000"/>
                </a:solidFill>
                <a:latin typeface="Roboto"/>
              </a:rPr>
              <a:t>: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04339"/>
            <a:ext cx="496569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100">
                <a:solidFill>
                  <a:srgbClr val="000000"/>
                </a:solidFill>
                <a:latin typeface="Roboto"/>
              </a:rPr>
              <a:t>1)Start.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89760"/>
            <a:ext cx="162941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" sz="1100">
                <a:solidFill>
                  <a:srgbClr val="000000"/>
                </a:solidFill>
                <a:latin typeface="Roboto"/>
              </a:rPr>
              <a:t>2)Input number of rows n.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73910"/>
            <a:ext cx="165735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" sz="1100">
                <a:solidFill>
                  <a:srgbClr val="000000"/>
                </a:solidFill>
                <a:latin typeface="Roboto"/>
              </a:rPr>
              <a:t>3)Run loop from i = 1 to n.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59330"/>
            <a:ext cx="152146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" sz="1100">
                <a:solidFill>
                  <a:srgbClr val="000000"/>
                </a:solidFill>
                <a:latin typeface="Roboto"/>
              </a:rPr>
              <a:t>4)Print required spaces.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43480"/>
            <a:ext cx="115570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" sz="1100">
                <a:solidFill>
                  <a:srgbClr val="000000"/>
                </a:solidFill>
                <a:latin typeface="Roboto"/>
              </a:rPr>
              <a:t>5)Print 2*i-1 stars.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28900"/>
            <a:ext cx="125730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100">
                <a:solidFill>
                  <a:srgbClr val="000000"/>
                </a:solidFill>
                <a:latin typeface="Roboto"/>
              </a:rPr>
              <a:t>6)Move to next line.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13050"/>
            <a:ext cx="48895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" sz="1100">
                <a:solidFill>
                  <a:srgbClr val="000000"/>
                </a:solidFill>
                <a:latin typeface="Roboto"/>
              </a:rPr>
              <a:t>7)Stop.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998470"/>
            <a:ext cx="48133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7" sz="1100">
                <a:solidFill>
                  <a:srgbClr val="000000"/>
                </a:solidFill>
                <a:latin typeface="Roboto"/>
              </a:rPr>
              <a:t>C code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182620"/>
            <a:ext cx="117221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100">
                <a:solidFill>
                  <a:srgbClr val="000000"/>
                </a:solidFill>
                <a:latin typeface="Roboto"/>
              </a:rPr>
              <a:t>#include &lt;stdio.h&gt;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552190"/>
            <a:ext cx="62103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" sz="1100">
                <a:solidFill>
                  <a:srgbClr val="000000"/>
                </a:solidFill>
                <a:latin typeface="Roboto"/>
              </a:rPr>
              <a:t>int main()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736340"/>
            <a:ext cx="8509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" sz="1100">
                <a:solidFill>
                  <a:srgbClr val="000000"/>
                </a:solidFill>
                <a:latin typeface="Roboto"/>
              </a:rPr>
              <a:t>{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1240" y="3921760"/>
            <a:ext cx="519429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9" sz="1100">
                <a:solidFill>
                  <a:srgbClr val="000000"/>
                </a:solidFill>
                <a:latin typeface="Roboto"/>
              </a:rPr>
              <a:t> int n,i,j;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1240" y="4105910"/>
            <a:ext cx="136271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" sz="1100">
                <a:solidFill>
                  <a:srgbClr val="000000"/>
                </a:solidFill>
                <a:latin typeface="Roboto"/>
              </a:rPr>
              <a:t> printf("Enter rows: ");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1240" y="4291330"/>
            <a:ext cx="105283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2" sz="1100">
                <a:solidFill>
                  <a:srgbClr val="000000"/>
                </a:solidFill>
                <a:latin typeface="Roboto"/>
              </a:rPr>
              <a:t> scanf("%d",&amp;n);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1240" y="4660900"/>
            <a:ext cx="1066799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" sz="1100">
                <a:solidFill>
                  <a:srgbClr val="000000"/>
                </a:solidFill>
                <a:latin typeface="Roboto"/>
              </a:rPr>
              <a:t> for(i=1;i&lt;=n;i++)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1240" y="4845050"/>
            <a:ext cx="12319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7" sz="1100">
                <a:solidFill>
                  <a:srgbClr val="000000"/>
                </a:solidFill>
                <a:latin typeface="Roboto"/>
              </a:rPr>
              <a:t> {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6180" y="5030470"/>
            <a:ext cx="114427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" sz="1100">
                <a:solidFill>
                  <a:srgbClr val="000000"/>
                </a:solidFill>
                <a:latin typeface="Roboto"/>
              </a:rPr>
              <a:t> for(j=1;j&lt;=n-i;j++)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41120" y="5214620"/>
            <a:ext cx="65786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" sz="1100">
                <a:solidFill>
                  <a:srgbClr val="000000"/>
                </a:solidFill>
                <a:latin typeface="Roboto"/>
              </a:rPr>
              <a:t> printf(" ");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6180" y="5584190"/>
            <a:ext cx="127635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" sz="1100">
                <a:solidFill>
                  <a:srgbClr val="000000"/>
                </a:solidFill>
                <a:latin typeface="Roboto"/>
              </a:rPr>
              <a:t> for(j=1;j&lt;=2*i-1;j++)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41120" y="5769610"/>
            <a:ext cx="712469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100">
                <a:solidFill>
                  <a:srgbClr val="000000"/>
                </a:solidFill>
                <a:latin typeface="Roboto"/>
              </a:rPr>
              <a:t> printf("* ");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6180" y="6137910"/>
            <a:ext cx="73533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" sz="1100">
                <a:solidFill>
                  <a:srgbClr val="000000"/>
                </a:solidFill>
                <a:latin typeface="Roboto"/>
              </a:rPr>
              <a:t> printf("\n");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1240" y="6323330"/>
            <a:ext cx="12319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7" sz="1100">
                <a:solidFill>
                  <a:srgbClr val="000000"/>
                </a:solidFill>
                <a:latin typeface="Roboto"/>
              </a:rPr>
              <a:t> }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1240" y="6507480"/>
            <a:ext cx="596899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" sz="1100">
                <a:solidFill>
                  <a:srgbClr val="000000"/>
                </a:solidFill>
                <a:latin typeface="Roboto"/>
              </a:rPr>
              <a:t> return 0;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6692900"/>
            <a:ext cx="8509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" sz="1100">
                <a:solidFill>
                  <a:srgbClr val="000000"/>
                </a:solidFill>
                <a:latin typeface="Roboto"/>
              </a:rPr>
              <a:t>}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50" y="933450"/>
            <a:ext cx="5943600" cy="91249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50" y="933450"/>
            <a:ext cx="5943600" cy="91249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932180"/>
            <a:ext cx="713739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" sz="1100">
                <a:solidFill>
                  <a:srgbClr val="000000"/>
                </a:solidFill>
                <a:latin typeface="Roboto"/>
              </a:rPr>
              <a:t>Question 2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17600"/>
            <a:ext cx="406527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" sz="1100">
                <a:solidFill>
                  <a:srgbClr val="000000"/>
                </a:solidFill>
                <a:latin typeface="Roboto"/>
              </a:rPr>
              <a:t>To write a C program to print an inverted pyramid using asterisks.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01750"/>
            <a:ext cx="62865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3" sz="1100">
                <a:solidFill>
                  <a:srgbClr val="000000"/>
                </a:solidFill>
                <a:latin typeface="Roboto"/>
              </a:rPr>
              <a:t>Algorithm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85900"/>
            <a:ext cx="496569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100">
                <a:solidFill>
                  <a:srgbClr val="000000"/>
                </a:solidFill>
                <a:latin typeface="Roboto"/>
              </a:rPr>
              <a:t>1)Start.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71320"/>
            <a:ext cx="162941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" sz="1100">
                <a:solidFill>
                  <a:srgbClr val="000000"/>
                </a:solidFill>
                <a:latin typeface="Roboto"/>
              </a:rPr>
              <a:t>2)Input number of rows n.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55470"/>
            <a:ext cx="165735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" sz="1100">
                <a:solidFill>
                  <a:srgbClr val="000000"/>
                </a:solidFill>
                <a:latin typeface="Roboto"/>
              </a:rPr>
              <a:t>3)Run loop from i = n to 1.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40889"/>
            <a:ext cx="97028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" sz="1100">
                <a:solidFill>
                  <a:srgbClr val="000000"/>
                </a:solidFill>
                <a:latin typeface="Roboto"/>
              </a:rPr>
              <a:t>4)Print spaces.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25040"/>
            <a:ext cx="115570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" sz="1100">
                <a:solidFill>
                  <a:srgbClr val="000000"/>
                </a:solidFill>
                <a:latin typeface="Roboto"/>
              </a:rPr>
              <a:t>5)Print 2*i-1 stars.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10460"/>
            <a:ext cx="125730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100">
                <a:solidFill>
                  <a:srgbClr val="000000"/>
                </a:solidFill>
                <a:latin typeface="Roboto"/>
              </a:rPr>
              <a:t>6)Move to next line.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94610"/>
            <a:ext cx="48895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" sz="1100">
                <a:solidFill>
                  <a:srgbClr val="000000"/>
                </a:solidFill>
                <a:latin typeface="Roboto"/>
              </a:rPr>
              <a:t>7)Stop.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780030"/>
            <a:ext cx="48133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7" sz="1100">
                <a:solidFill>
                  <a:srgbClr val="000000"/>
                </a:solidFill>
                <a:latin typeface="Roboto"/>
              </a:rPr>
              <a:t>C code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964180"/>
            <a:ext cx="117221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100">
                <a:solidFill>
                  <a:srgbClr val="000000"/>
                </a:solidFill>
                <a:latin typeface="Roboto"/>
              </a:rPr>
              <a:t>#include &lt;stdio.h&gt;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333750"/>
            <a:ext cx="62103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" sz="1100">
                <a:solidFill>
                  <a:srgbClr val="000000"/>
                </a:solidFill>
                <a:latin typeface="Roboto"/>
              </a:rPr>
              <a:t>int main()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519170"/>
            <a:ext cx="8509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" sz="1100">
                <a:solidFill>
                  <a:srgbClr val="000000"/>
                </a:solidFill>
                <a:latin typeface="Roboto"/>
              </a:rPr>
              <a:t>{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1240" y="3703320"/>
            <a:ext cx="519429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9" sz="1100">
                <a:solidFill>
                  <a:srgbClr val="000000"/>
                </a:solidFill>
                <a:latin typeface="Roboto"/>
              </a:rPr>
              <a:t> int n,i,j;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1240" y="3887470"/>
            <a:ext cx="136271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" sz="1100">
                <a:solidFill>
                  <a:srgbClr val="000000"/>
                </a:solidFill>
                <a:latin typeface="Roboto"/>
              </a:rPr>
              <a:t> printf("Enter rows: ");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1240" y="4072890"/>
            <a:ext cx="105283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2" sz="1100">
                <a:solidFill>
                  <a:srgbClr val="000000"/>
                </a:solidFill>
                <a:latin typeface="Roboto"/>
              </a:rPr>
              <a:t> scanf("%d",&amp;n);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1240" y="4442460"/>
            <a:ext cx="996949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" sz="1100">
                <a:solidFill>
                  <a:srgbClr val="000000"/>
                </a:solidFill>
                <a:latin typeface="Roboto"/>
              </a:rPr>
              <a:t> for(i=n;i&gt;=1;i--)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1240" y="4626610"/>
            <a:ext cx="12319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7" sz="1100">
                <a:solidFill>
                  <a:srgbClr val="000000"/>
                </a:solidFill>
                <a:latin typeface="Roboto"/>
              </a:rPr>
              <a:t> {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6180" y="4812030"/>
            <a:ext cx="114427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" sz="1100">
                <a:solidFill>
                  <a:srgbClr val="000000"/>
                </a:solidFill>
                <a:latin typeface="Roboto"/>
              </a:rPr>
              <a:t> for(j=1;j&lt;=n-i;j++)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1120" y="4996180"/>
            <a:ext cx="65786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" sz="1100">
                <a:solidFill>
                  <a:srgbClr val="000000"/>
                </a:solidFill>
                <a:latin typeface="Roboto"/>
              </a:rPr>
              <a:t> printf(" ");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6180" y="5365750"/>
            <a:ext cx="127635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" sz="1100">
                <a:solidFill>
                  <a:srgbClr val="000000"/>
                </a:solidFill>
                <a:latin typeface="Roboto"/>
              </a:rPr>
              <a:t> for(j=1;j&lt;=2*i-1;j++)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1120" y="5551170"/>
            <a:ext cx="712469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100">
                <a:solidFill>
                  <a:srgbClr val="000000"/>
                </a:solidFill>
                <a:latin typeface="Roboto"/>
              </a:rPr>
              <a:t> printf("* ");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6180" y="5920740"/>
            <a:ext cx="73533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" sz="1100">
                <a:solidFill>
                  <a:srgbClr val="000000"/>
                </a:solidFill>
                <a:latin typeface="Roboto"/>
              </a:rPr>
              <a:t> printf("\n");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1240" y="6104890"/>
            <a:ext cx="12319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7" sz="1100">
                <a:solidFill>
                  <a:srgbClr val="000000"/>
                </a:solidFill>
                <a:latin typeface="Roboto"/>
              </a:rPr>
              <a:t> }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1240" y="6289040"/>
            <a:ext cx="596899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" sz="1100">
                <a:solidFill>
                  <a:srgbClr val="000000"/>
                </a:solidFill>
                <a:latin typeface="Roboto"/>
              </a:rPr>
              <a:t> return 0;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6474460"/>
            <a:ext cx="85090" cy="1396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" sz="1100">
                <a:solidFill>
                  <a:srgbClr val="000000"/>
                </a:solidFill>
                <a:latin typeface="Roboto"/>
              </a:rPr>
              <a:t>}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50" y="933450"/>
            <a:ext cx="5943600" cy="91249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50" y="933450"/>
            <a:ext cx="5943600" cy="91249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932180"/>
            <a:ext cx="713739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" sz="1100">
                <a:solidFill>
                  <a:srgbClr val="000000"/>
                </a:solidFill>
                <a:latin typeface="Roboto"/>
              </a:rPr>
              <a:t>Question 3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17600"/>
            <a:ext cx="396494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" sz="1100">
                <a:solidFill>
                  <a:srgbClr val="000000"/>
                </a:solidFill>
                <a:latin typeface="Roboto"/>
              </a:rPr>
              <a:t>To write a C program to print a diamond pattern using asterisks.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01750"/>
            <a:ext cx="62865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3" sz="1100">
                <a:solidFill>
                  <a:srgbClr val="000000"/>
                </a:solidFill>
                <a:latin typeface="Roboto"/>
              </a:rPr>
              <a:t>Algorithm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85900"/>
            <a:ext cx="496569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100">
                <a:solidFill>
                  <a:srgbClr val="000000"/>
                </a:solidFill>
                <a:latin typeface="Roboto"/>
              </a:rPr>
              <a:t>1)Start.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71320"/>
            <a:ext cx="162941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" sz="1100">
                <a:solidFill>
                  <a:srgbClr val="000000"/>
                </a:solidFill>
                <a:latin typeface="Roboto"/>
              </a:rPr>
              <a:t>2)Input number of rows n.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55470"/>
            <a:ext cx="2856229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" sz="1100">
                <a:solidFill>
                  <a:srgbClr val="000000"/>
                </a:solidFill>
                <a:latin typeface="Roboto"/>
              </a:rPr>
              <a:t>3)Print the upper pyramid using nested loops.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40889"/>
            <a:ext cx="336804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" sz="1100">
                <a:solidFill>
                  <a:srgbClr val="000000"/>
                </a:solidFill>
                <a:latin typeface="Roboto"/>
              </a:rPr>
              <a:t>4)Print the lower inverted pyramid using nested loops.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25040"/>
            <a:ext cx="48895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" sz="1100">
                <a:solidFill>
                  <a:srgbClr val="000000"/>
                </a:solidFill>
                <a:latin typeface="Roboto"/>
              </a:rPr>
              <a:t>5)Stop.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10460"/>
            <a:ext cx="48133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7" sz="1100">
                <a:solidFill>
                  <a:srgbClr val="000000"/>
                </a:solidFill>
                <a:latin typeface="Roboto"/>
              </a:rPr>
              <a:t>C code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94610"/>
            <a:ext cx="117221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100">
                <a:solidFill>
                  <a:srgbClr val="000000"/>
                </a:solidFill>
                <a:latin typeface="Roboto"/>
              </a:rPr>
              <a:t>#include &lt;stdio.h&gt;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64180"/>
            <a:ext cx="62103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" sz="1100">
                <a:solidFill>
                  <a:srgbClr val="000000"/>
                </a:solidFill>
                <a:latin typeface="Roboto"/>
              </a:rPr>
              <a:t>int main()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49600"/>
            <a:ext cx="8509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" sz="1100">
                <a:solidFill>
                  <a:srgbClr val="000000"/>
                </a:solidFill>
                <a:latin typeface="Roboto"/>
              </a:rPr>
              <a:t>{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1240" y="3333750"/>
            <a:ext cx="519429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9" sz="1100">
                <a:solidFill>
                  <a:srgbClr val="000000"/>
                </a:solidFill>
                <a:latin typeface="Roboto"/>
              </a:rPr>
              <a:t> int n,i,j;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1240" y="3519170"/>
            <a:ext cx="136271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" sz="1100">
                <a:solidFill>
                  <a:srgbClr val="000000"/>
                </a:solidFill>
                <a:latin typeface="Roboto"/>
              </a:rPr>
              <a:t> printf("Enter rows: ");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1240" y="3703320"/>
            <a:ext cx="105283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2" sz="1100">
                <a:solidFill>
                  <a:srgbClr val="000000"/>
                </a:solidFill>
                <a:latin typeface="Roboto"/>
              </a:rPr>
              <a:t> scanf("%d",&amp;n);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1240" y="4072890"/>
            <a:ext cx="1066799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" sz="1100">
                <a:solidFill>
                  <a:srgbClr val="000000"/>
                </a:solidFill>
                <a:latin typeface="Roboto"/>
              </a:rPr>
              <a:t> for(i=1;i&lt;=n;i++)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1240" y="4257040"/>
            <a:ext cx="12319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7" sz="1100">
                <a:solidFill>
                  <a:srgbClr val="000000"/>
                </a:solidFill>
                <a:latin typeface="Roboto"/>
              </a:rPr>
              <a:t> {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6180" y="4442460"/>
            <a:ext cx="1762759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" sz="1100">
                <a:solidFill>
                  <a:srgbClr val="000000"/>
                </a:solidFill>
                <a:latin typeface="Roboto"/>
              </a:rPr>
              <a:t> for(j=1;j&lt;=n-i;j++) printf(" ");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6180" y="4626610"/>
            <a:ext cx="194945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" sz="1100">
                <a:solidFill>
                  <a:srgbClr val="000000"/>
                </a:solidFill>
                <a:latin typeface="Roboto"/>
              </a:rPr>
              <a:t> for(j=1;j&lt;=2*i-1;j++) printf("* ");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6180" y="4812030"/>
            <a:ext cx="73533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" sz="1100">
                <a:solidFill>
                  <a:srgbClr val="000000"/>
                </a:solidFill>
                <a:latin typeface="Roboto"/>
              </a:rPr>
              <a:t> printf("\n");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1240" y="4996180"/>
            <a:ext cx="12319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7" sz="1100">
                <a:solidFill>
                  <a:srgbClr val="000000"/>
                </a:solidFill>
                <a:latin typeface="Roboto"/>
              </a:rPr>
              <a:t> }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1240" y="5365750"/>
            <a:ext cx="112014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" sz="1100">
                <a:solidFill>
                  <a:srgbClr val="000000"/>
                </a:solidFill>
                <a:latin typeface="Roboto"/>
              </a:rPr>
              <a:t> for(i=n-1;i&gt;=1;i--)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1240" y="5551170"/>
            <a:ext cx="12319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7" sz="1100">
                <a:solidFill>
                  <a:srgbClr val="000000"/>
                </a:solidFill>
                <a:latin typeface="Roboto"/>
              </a:rPr>
              <a:t> {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6180" y="5735320"/>
            <a:ext cx="1762759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" sz="1100">
                <a:solidFill>
                  <a:srgbClr val="000000"/>
                </a:solidFill>
                <a:latin typeface="Roboto"/>
              </a:rPr>
              <a:t> for(j=1;j&lt;=n-i;j++) printf(" ");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6180" y="5920740"/>
            <a:ext cx="194945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" sz="1100">
                <a:solidFill>
                  <a:srgbClr val="000000"/>
                </a:solidFill>
                <a:latin typeface="Roboto"/>
              </a:rPr>
              <a:t> for(j=1;j&lt;=2*i-1;j++) printf("* ");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6180" y="6104890"/>
            <a:ext cx="73533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" sz="1100">
                <a:solidFill>
                  <a:srgbClr val="000000"/>
                </a:solidFill>
                <a:latin typeface="Roboto"/>
              </a:rPr>
              <a:t> printf("\n");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1240" y="6289040"/>
            <a:ext cx="12319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7" sz="1100">
                <a:solidFill>
                  <a:srgbClr val="000000"/>
                </a:solidFill>
                <a:latin typeface="Roboto"/>
              </a:rPr>
              <a:t> }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1240" y="6474460"/>
            <a:ext cx="596899" cy="1396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" sz="1100">
                <a:solidFill>
                  <a:srgbClr val="000000"/>
                </a:solidFill>
                <a:latin typeface="Roboto"/>
              </a:rPr>
              <a:t> return 0;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6658609"/>
            <a:ext cx="8509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" sz="1100">
                <a:solidFill>
                  <a:srgbClr val="000000"/>
                </a:solidFill>
                <a:latin typeface="Roboto"/>
              </a:rPr>
              <a:t>}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50" y="933450"/>
            <a:ext cx="5943600" cy="91249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50" y="933450"/>
            <a:ext cx="5943600" cy="91249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932180"/>
            <a:ext cx="713739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" sz="1100">
                <a:solidFill>
                  <a:srgbClr val="000000"/>
                </a:solidFill>
                <a:latin typeface="Roboto"/>
              </a:rPr>
              <a:t>Question 4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17600"/>
            <a:ext cx="375539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" sz="1100">
                <a:solidFill>
                  <a:srgbClr val="000000"/>
                </a:solidFill>
                <a:latin typeface="Roboto"/>
              </a:rPr>
              <a:t>To write a C program to print a palindromic number pyramid.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01750"/>
            <a:ext cx="62865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3" sz="1100">
                <a:solidFill>
                  <a:srgbClr val="000000"/>
                </a:solidFill>
                <a:latin typeface="Roboto"/>
              </a:rPr>
              <a:t>Algorithm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85900"/>
            <a:ext cx="496569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100">
                <a:solidFill>
                  <a:srgbClr val="000000"/>
                </a:solidFill>
                <a:latin typeface="Roboto"/>
              </a:rPr>
              <a:t>1)Start.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71320"/>
            <a:ext cx="162941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" sz="1100">
                <a:solidFill>
                  <a:srgbClr val="000000"/>
                </a:solidFill>
                <a:latin typeface="Roboto"/>
              </a:rPr>
              <a:t>2)Input number of rows n.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55470"/>
            <a:ext cx="165735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" sz="1100">
                <a:solidFill>
                  <a:srgbClr val="000000"/>
                </a:solidFill>
                <a:latin typeface="Roboto"/>
              </a:rPr>
              <a:t>3)Run loop from i = 1 to n.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40889"/>
            <a:ext cx="1729739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" sz="1100">
                <a:solidFill>
                  <a:srgbClr val="000000"/>
                </a:solidFill>
                <a:latin typeface="Roboto"/>
              </a:rPr>
              <a:t>4)Print numbers from 1 to i.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25040"/>
            <a:ext cx="218821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" sz="1100">
                <a:solidFill>
                  <a:srgbClr val="000000"/>
                </a:solidFill>
                <a:latin typeface="Roboto"/>
              </a:rPr>
              <a:t>5)Print numbers from i-1 back to 1.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10460"/>
            <a:ext cx="148971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100">
                <a:solidFill>
                  <a:srgbClr val="000000"/>
                </a:solidFill>
                <a:latin typeface="Roboto"/>
              </a:rPr>
              <a:t>6)Move to the next line.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94610"/>
            <a:ext cx="48895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" sz="1100">
                <a:solidFill>
                  <a:srgbClr val="000000"/>
                </a:solidFill>
                <a:latin typeface="Roboto"/>
              </a:rPr>
              <a:t>7)Stop.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780030"/>
            <a:ext cx="48133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7" sz="1100">
                <a:solidFill>
                  <a:srgbClr val="000000"/>
                </a:solidFill>
                <a:latin typeface="Roboto"/>
              </a:rPr>
              <a:t>C code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964180"/>
            <a:ext cx="117221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100">
                <a:solidFill>
                  <a:srgbClr val="000000"/>
                </a:solidFill>
                <a:latin typeface="Roboto"/>
              </a:rPr>
              <a:t>#include &lt;stdio.h&gt;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333750"/>
            <a:ext cx="62103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" sz="1100">
                <a:solidFill>
                  <a:srgbClr val="000000"/>
                </a:solidFill>
                <a:latin typeface="Roboto"/>
              </a:rPr>
              <a:t>int main()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519170"/>
            <a:ext cx="8509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" sz="1100">
                <a:solidFill>
                  <a:srgbClr val="000000"/>
                </a:solidFill>
                <a:latin typeface="Roboto"/>
              </a:rPr>
              <a:t>{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1240" y="3703320"/>
            <a:ext cx="519429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9" sz="1100">
                <a:solidFill>
                  <a:srgbClr val="000000"/>
                </a:solidFill>
                <a:latin typeface="Roboto"/>
              </a:rPr>
              <a:t> int n,i,j;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1240" y="3887470"/>
            <a:ext cx="136271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" sz="1100">
                <a:solidFill>
                  <a:srgbClr val="000000"/>
                </a:solidFill>
                <a:latin typeface="Roboto"/>
              </a:rPr>
              <a:t> printf("Enter rows: ");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1240" y="4072890"/>
            <a:ext cx="105283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2" sz="1100">
                <a:solidFill>
                  <a:srgbClr val="000000"/>
                </a:solidFill>
                <a:latin typeface="Roboto"/>
              </a:rPr>
              <a:t> scanf("%d",&amp;n);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1240" y="4442460"/>
            <a:ext cx="1066799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" sz="1100">
                <a:solidFill>
                  <a:srgbClr val="000000"/>
                </a:solidFill>
                <a:latin typeface="Roboto"/>
              </a:rPr>
              <a:t> for(i=1;i&lt;=n;i++)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1240" y="4626610"/>
            <a:ext cx="12319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7" sz="1100">
                <a:solidFill>
                  <a:srgbClr val="000000"/>
                </a:solidFill>
                <a:latin typeface="Roboto"/>
              </a:rPr>
              <a:t> {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6180" y="4812030"/>
            <a:ext cx="1019809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" sz="1100">
                <a:solidFill>
                  <a:srgbClr val="000000"/>
                </a:solidFill>
                <a:latin typeface="Roboto"/>
              </a:rPr>
              <a:t> for(j=1;j&lt;=i;j++)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1120" y="4996180"/>
            <a:ext cx="92964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6" sz="1100">
                <a:solidFill>
                  <a:srgbClr val="000000"/>
                </a:solidFill>
                <a:latin typeface="Roboto"/>
              </a:rPr>
              <a:t> printf("%d ",j);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6180" y="5365750"/>
            <a:ext cx="107442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" sz="1100">
                <a:solidFill>
                  <a:srgbClr val="000000"/>
                </a:solidFill>
                <a:latin typeface="Roboto"/>
              </a:rPr>
              <a:t> for(j=i-1;j&gt;=1;j--)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1120" y="5551170"/>
            <a:ext cx="92964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6" sz="1100">
                <a:solidFill>
                  <a:srgbClr val="000000"/>
                </a:solidFill>
                <a:latin typeface="Roboto"/>
              </a:rPr>
              <a:t> printf("%d ",j);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6180" y="5920740"/>
            <a:ext cx="73533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" sz="1100">
                <a:solidFill>
                  <a:srgbClr val="000000"/>
                </a:solidFill>
                <a:latin typeface="Roboto"/>
              </a:rPr>
              <a:t> printf("\n");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1240" y="6104890"/>
            <a:ext cx="12319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7" sz="1100">
                <a:solidFill>
                  <a:srgbClr val="000000"/>
                </a:solidFill>
                <a:latin typeface="Roboto"/>
              </a:rPr>
              <a:t> }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1240" y="6289040"/>
            <a:ext cx="596899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" sz="1100">
                <a:solidFill>
                  <a:srgbClr val="000000"/>
                </a:solidFill>
                <a:latin typeface="Roboto"/>
              </a:rPr>
              <a:t> return 0;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6474460"/>
            <a:ext cx="85090" cy="1396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" sz="1100">
                <a:solidFill>
                  <a:srgbClr val="000000"/>
                </a:solidFill>
                <a:latin typeface="Roboto"/>
              </a:rPr>
              <a:t>}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50" y="933450"/>
            <a:ext cx="5943600" cy="91249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50" y="933450"/>
            <a:ext cx="5943600" cy="91249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932180"/>
            <a:ext cx="713739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" sz="1100">
                <a:solidFill>
                  <a:srgbClr val="000000"/>
                </a:solidFill>
                <a:latin typeface="Roboto"/>
              </a:rPr>
              <a:t>Question 5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17600"/>
            <a:ext cx="360045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100">
                <a:solidFill>
                  <a:srgbClr val="000000"/>
                </a:solidFill>
                <a:latin typeface="Roboto"/>
              </a:rPr>
              <a:t>To write a C program to print a repeated-number pyramid.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01750"/>
            <a:ext cx="62865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3" sz="1100">
                <a:solidFill>
                  <a:srgbClr val="000000"/>
                </a:solidFill>
                <a:latin typeface="Roboto"/>
              </a:rPr>
              <a:t>Algorithm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85900"/>
            <a:ext cx="496569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100">
                <a:solidFill>
                  <a:srgbClr val="000000"/>
                </a:solidFill>
                <a:latin typeface="Roboto"/>
              </a:rPr>
              <a:t>1)Start.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71320"/>
            <a:ext cx="162941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" sz="1100">
                <a:solidFill>
                  <a:srgbClr val="000000"/>
                </a:solidFill>
                <a:latin typeface="Roboto"/>
              </a:rPr>
              <a:t>2)Input number of rows n.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55470"/>
            <a:ext cx="165735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" sz="1100">
                <a:solidFill>
                  <a:srgbClr val="000000"/>
                </a:solidFill>
                <a:latin typeface="Roboto"/>
              </a:rPr>
              <a:t>3)Run loop from i = 1 to n.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40889"/>
            <a:ext cx="152146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" sz="1100">
                <a:solidFill>
                  <a:srgbClr val="000000"/>
                </a:solidFill>
                <a:latin typeface="Roboto"/>
              </a:rPr>
              <a:t>4)Print required spaces.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25040"/>
            <a:ext cx="196342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" sz="1100">
                <a:solidFill>
                  <a:srgbClr val="000000"/>
                </a:solidFill>
                <a:latin typeface="Roboto"/>
              </a:rPr>
              <a:t>5)Print row number 2*i-1 times.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10460"/>
            <a:ext cx="148971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100">
                <a:solidFill>
                  <a:srgbClr val="000000"/>
                </a:solidFill>
                <a:latin typeface="Roboto"/>
              </a:rPr>
              <a:t>6)Move to the next line.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94610"/>
            <a:ext cx="48895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" sz="1100">
                <a:solidFill>
                  <a:srgbClr val="000000"/>
                </a:solidFill>
                <a:latin typeface="Roboto"/>
              </a:rPr>
              <a:t>7)Stop.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780030"/>
            <a:ext cx="48133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7" sz="1100">
                <a:solidFill>
                  <a:srgbClr val="000000"/>
                </a:solidFill>
                <a:latin typeface="Roboto"/>
              </a:rPr>
              <a:t>C code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964180"/>
            <a:ext cx="117221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100">
                <a:solidFill>
                  <a:srgbClr val="000000"/>
                </a:solidFill>
                <a:latin typeface="Roboto"/>
              </a:rPr>
              <a:t>#include &lt;stdio.h&gt;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333750"/>
            <a:ext cx="62103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" sz="1100">
                <a:solidFill>
                  <a:srgbClr val="000000"/>
                </a:solidFill>
                <a:latin typeface="Roboto"/>
              </a:rPr>
              <a:t>int main()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519170"/>
            <a:ext cx="8509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" sz="1100">
                <a:solidFill>
                  <a:srgbClr val="000000"/>
                </a:solidFill>
                <a:latin typeface="Roboto"/>
              </a:rPr>
              <a:t>{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1240" y="3703320"/>
            <a:ext cx="519429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9" sz="1100">
                <a:solidFill>
                  <a:srgbClr val="000000"/>
                </a:solidFill>
                <a:latin typeface="Roboto"/>
              </a:rPr>
              <a:t> int n,i,j;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1240" y="3887470"/>
            <a:ext cx="136271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" sz="1100">
                <a:solidFill>
                  <a:srgbClr val="000000"/>
                </a:solidFill>
                <a:latin typeface="Roboto"/>
              </a:rPr>
              <a:t> printf("Enter rows: ");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1240" y="4072890"/>
            <a:ext cx="105283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2" sz="1100">
                <a:solidFill>
                  <a:srgbClr val="000000"/>
                </a:solidFill>
                <a:latin typeface="Roboto"/>
              </a:rPr>
              <a:t> scanf("%d",&amp;n);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1240" y="4442460"/>
            <a:ext cx="1066799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" sz="1100">
                <a:solidFill>
                  <a:srgbClr val="000000"/>
                </a:solidFill>
                <a:latin typeface="Roboto"/>
              </a:rPr>
              <a:t> for(i=1;i&lt;=n;i++)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1240" y="4626610"/>
            <a:ext cx="12319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7" sz="1100">
                <a:solidFill>
                  <a:srgbClr val="000000"/>
                </a:solidFill>
                <a:latin typeface="Roboto"/>
              </a:rPr>
              <a:t> {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6180" y="4812030"/>
            <a:ext cx="114427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" sz="1100">
                <a:solidFill>
                  <a:srgbClr val="000000"/>
                </a:solidFill>
                <a:latin typeface="Roboto"/>
              </a:rPr>
              <a:t> for(j=1;j&lt;=n-i;j++)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1120" y="4996180"/>
            <a:ext cx="65786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" sz="1100">
                <a:solidFill>
                  <a:srgbClr val="000000"/>
                </a:solidFill>
                <a:latin typeface="Roboto"/>
              </a:rPr>
              <a:t> printf(" ");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6180" y="5365750"/>
            <a:ext cx="127635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" sz="1100">
                <a:solidFill>
                  <a:srgbClr val="000000"/>
                </a:solidFill>
                <a:latin typeface="Roboto"/>
              </a:rPr>
              <a:t> for(j=1;j&lt;=2*i-1;j++)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1120" y="5551170"/>
            <a:ext cx="92964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" sz="1100">
                <a:solidFill>
                  <a:srgbClr val="000000"/>
                </a:solidFill>
                <a:latin typeface="Roboto"/>
              </a:rPr>
              <a:t> printf("%d ",i);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6180" y="5920740"/>
            <a:ext cx="73533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" sz="1100">
                <a:solidFill>
                  <a:srgbClr val="000000"/>
                </a:solidFill>
                <a:latin typeface="Roboto"/>
              </a:rPr>
              <a:t> printf("\n");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1240" y="6104890"/>
            <a:ext cx="12319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7" sz="1100">
                <a:solidFill>
                  <a:srgbClr val="000000"/>
                </a:solidFill>
                <a:latin typeface="Roboto"/>
              </a:rPr>
              <a:t> }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1240" y="6289040"/>
            <a:ext cx="596899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" sz="1100">
                <a:solidFill>
                  <a:srgbClr val="000000"/>
                </a:solidFill>
                <a:latin typeface="Roboto"/>
              </a:rPr>
              <a:t> return 0;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6474460"/>
            <a:ext cx="85090" cy="1396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" sz="1100">
                <a:solidFill>
                  <a:srgbClr val="000000"/>
                </a:solidFill>
                <a:latin typeface="Roboto"/>
              </a:rPr>
              <a:t>}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50" y="933450"/>
            <a:ext cx="5943600" cy="91249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50" y="933450"/>
            <a:ext cx="5943600" cy="91249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932180"/>
            <a:ext cx="43434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" sz="1100">
                <a:solidFill>
                  <a:srgbClr val="000000"/>
                </a:solidFill>
                <a:latin typeface="Roboto"/>
              </a:rPr>
              <a:t>Result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17600"/>
            <a:ext cx="433070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sz="1100">
                <a:solidFill>
                  <a:srgbClr val="000000"/>
                </a:solidFill>
                <a:latin typeface="Roboto"/>
              </a:rPr>
              <a:t>All 5 pattern diamond are successful implemented using nested loops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01750"/>
            <a:ext cx="69088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" sz="1100">
                <a:solidFill>
                  <a:srgbClr val="000000"/>
                </a:solidFill>
                <a:latin typeface="Roboto"/>
              </a:rPr>
              <a:t>Thank you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85900"/>
            <a:ext cx="97790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" sz="1100">
                <a:solidFill>
                  <a:srgbClr val="000000"/>
                </a:solidFill>
                <a:latin typeface="Roboto"/>
              </a:rPr>
              <a:t>Pragya pandey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71320"/>
            <a:ext cx="117221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" sz="1100">
                <a:solidFill>
                  <a:srgbClr val="000000"/>
                </a:solidFill>
                <a:latin typeface="Roboto"/>
              </a:rPr>
              <a:t>Sap id 590034352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55470"/>
            <a:ext cx="58928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" sz="1100">
                <a:solidFill>
                  <a:srgbClr val="000000"/>
                </a:solidFill>
                <a:latin typeface="Roboto"/>
              </a:rPr>
              <a:t>Batch 15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